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60" r:id="rId9"/>
    <p:sldId id="261" r:id="rId10"/>
    <p:sldId id="262" r:id="rId11"/>
    <p:sldId id="265" r:id="rId12"/>
    <p:sldId id="274" r:id="rId13"/>
    <p:sldId id="275" r:id="rId14"/>
    <p:sldId id="278" r:id="rId15"/>
    <p:sldId id="276" r:id="rId16"/>
    <p:sldId id="277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174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6EA1-D9CF-EA2B-1D2D-86FA334C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CDD53-2BF7-D414-D75A-6F68C80C1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A8675-E270-3D8D-F6A0-06B507209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302A2-8D02-A6FB-44A7-000C089A3F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6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FAEF2-340A-C55F-C487-F5F6894AB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6A3AC-484B-CD0B-1AC2-A60FDE733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30CFB-A85C-C8AE-F854-DF355689D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E60A0-179B-5852-BA60-B28F168BEA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95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69BAF-1B2F-5058-754F-DCFFCA31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E583F-6151-4290-B43A-DAD18BC8C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C54C1-8ABF-67C4-1EFE-ACF020C93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9F7F3-4474-44B5-1310-E144D705C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53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4D186-02DE-4E2F-4459-47B753B2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795F5-90DF-3DE7-AA3B-89DCEBF27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AE5B1-A0B6-4243-0930-55777CB4E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93B8A-9670-A2DE-74A7-1CC86F1D8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47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279EA-5A36-85C8-404D-B1EB3F07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F2A6E-69CB-F7AE-3376-F58670050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556E2-27A7-1FC2-0C1D-7A1280A61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BCDEB-8C90-AE18-475E-E1A33220C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1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F5C0-9B33-542B-9BF4-763C3571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2B3D8-8CE3-5854-3324-A88209EE4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16589-98FA-943D-8037-726A9B11D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7367C-D0AB-1180-DF27-D8CDDF5E4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71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ABFFA-BE1C-22F2-3BF3-3598238C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14E41-9E0D-7E19-B1B4-8355FAD84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ED11F-E3CB-B070-1334-6ABF3B47A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3CA39-CC1D-19DD-D964-45787A31C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99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E9EC-60E4-5B5E-2C72-E49227B00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D1CC6-D165-0091-F839-6D1BC5519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3F3CC-268B-D808-C539-816E5A4C4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B1975-C177-541A-874D-40871E171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0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C21F6-4537-3CA6-46EA-BEC0B4B3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DFD13-E4BA-7B45-017E-71D86CC30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8A3E0A-D441-5387-7D11-ABB227AAF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4EE46-18D0-0CC9-B239-3460FACB1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00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e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farmer_b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4D1C">
              <a:alpha val="60000"/>
            </a:srgbClr>
          </a:solidFill>
          <a:ln w="12700">
            <a:solidFill>
              <a:srgbClr val="1B4D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57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 MOBILE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74320" y="10515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ADVISORY SYSTEM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74320" y="1645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FARMERS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74320" y="2286000"/>
            <a:ext cx="5029200" cy="2743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2423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timely agricultural advisories — even without internet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3017520"/>
            <a:ext cx="1554480" cy="914400"/>
          </a:xfrm>
          <a:prstGeom prst="rect">
            <a:avLst/>
          </a:prstGeom>
          <a:solidFill>
            <a:srgbClr val="2C6B2F"/>
          </a:solidFill>
          <a:ln w="12700">
            <a:solidFill>
              <a:srgbClr val="8BC34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432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Targeted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965960" y="3017520"/>
            <a:ext cx="1554480" cy="914400"/>
          </a:xfrm>
          <a:prstGeom prst="rect">
            <a:avLst/>
          </a:prstGeom>
          <a:solidFill>
            <a:srgbClr val="2C6B2F"/>
          </a:solidFill>
          <a:ln w="12700">
            <a:solidFill>
              <a:srgbClr val="8BC34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965960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C34A"/>
                </a:solidFill>
                <a:latin typeface="Arial Black" pitchFamily="34" charset="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9659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0" y="3017520"/>
            <a:ext cx="1554480" cy="914400"/>
          </a:xfrm>
          <a:prstGeom prst="rect">
            <a:avLst/>
          </a:prstGeom>
          <a:solidFill>
            <a:srgbClr val="2C6B2F"/>
          </a:solidFill>
          <a:ln w="12700">
            <a:solidFill>
              <a:srgbClr val="8BC34A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57600" y="3090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65760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Ready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Application Development 4  •  Milestone 1: Project Proposal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Mangosuthu University of Technology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64008" cy="150876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332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Access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463040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cannot access forecasts to plan planting, irrigation, or harvests effectively.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868680"/>
            <a:ext cx="64008" cy="150876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03327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005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Outbreak Delays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73752" y="1463040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of pest and disease outbreaks reaches farmers too late, causing significant crop losses.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26060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74320" y="2606040"/>
            <a:ext cx="64008" cy="150876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77063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Gaps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38912" y="3200400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farming areas have unreliable or no internet, making online-only platforms useless.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26060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09160" y="2606040"/>
            <a:ext cx="64008" cy="150876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77063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67528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Deficit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73752" y="3200400"/>
            <a:ext cx="3913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advisory content doesn't reach smallholder farmers who need it most.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Reduced yields, food insecurity, and economic hardship for rural communities across South Africa.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solidFill>
            <a:srgbClr val="C8E6C9"/>
          </a:solidFill>
          <a:ln w="12700">
            <a:solidFill>
              <a:srgbClr val="4A9B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Mobile Advisory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mobile and web application that delivers agricultural advisories, weather alerts, and pest outbreak notifications directly to farmers — with full offline capability using local SQLite storage.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697480" cy="10972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6596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23591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syncs when connectivity returns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828800"/>
            <a:ext cx="2697480" cy="10972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9659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67328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23591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SMS for critical events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828800"/>
            <a:ext cx="2697480" cy="10972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9659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Advisories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23591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guides, tips &amp; best practices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3246120"/>
            <a:ext cx="2697480" cy="10972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3832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Compliant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11480" y="37764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POPIA compliant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3246120"/>
            <a:ext cx="2697480" cy="10972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38328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67328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337560" y="37764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Officers, Administrators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126480" y="3246120"/>
            <a:ext cx="2697480" cy="10972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383280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693408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Dashboard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6263640" y="37764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 &amp;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58514-5CB2-7DE2-D0A8-C772651C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CD156B-13D7-C497-45EC-AD85E56E510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D07F2F-6B98-9E49-22F6-6A9CA905B291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FC0BB3-27C2-9F0B-BFC5-1A8D2E98C631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200" b="1" dirty="0">
              <a:solidFill>
                <a:srgbClr val="FFFFFF"/>
              </a:solidFill>
              <a:latin typeface="Arial Black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First Normal Form (1NF)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8BACAD3-D3BA-BDA5-1A4A-87FEF7EDE6E6}"/>
              </a:ext>
            </a:extLst>
          </p:cNvPr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solidFill>
            <a:srgbClr val="C8E6C9"/>
          </a:solidFill>
          <a:ln w="12700">
            <a:solidFill>
              <a:srgbClr val="4A9B4E"/>
            </a:solidFill>
            <a:prstDash val="solid"/>
          </a:ln>
        </p:spPr>
        <p:txBody>
          <a:bodyPr/>
          <a:lstStyle/>
          <a:p>
            <a:endParaRPr lang="en-US" sz="1000" b="1" dirty="0"/>
          </a:p>
          <a:p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 Each column must contain atomic (indivisible) values. No repeating groups. Each row must be unique (primary key exists).</a:t>
            </a:r>
          </a:p>
          <a:p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Unnormalized table (UNF): We started with one flat table storing all data about a farmer's advisory interaction.</a:t>
            </a:r>
          </a:p>
          <a:p>
            <a:br>
              <a:rPr lang="en-US" sz="1100" dirty="0"/>
            </a:br>
            <a:endParaRPr lang="en-US" sz="1100" dirty="0"/>
          </a:p>
          <a:p>
            <a:endParaRPr lang="en-US" sz="1100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8B1B28-5209-6DD6-CBAD-9701750B70A1}"/>
              </a:ext>
            </a:extLst>
          </p:cNvPr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614A34-322F-E281-7CFF-996E6FED0538}"/>
              </a:ext>
            </a:extLst>
          </p:cNvPr>
          <p:cNvSpPr/>
          <p:nvPr/>
        </p:nvSpPr>
        <p:spPr>
          <a:xfrm>
            <a:off x="527538" y="105753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327D2AAA-E8EB-E997-3C53-19CB7815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965960"/>
            <a:ext cx="347472" cy="34747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458031D1-5B52-7BE6-9AC4-EBD02C38C8F2}"/>
              </a:ext>
            </a:extLst>
          </p:cNvPr>
          <p:cNvSpPr/>
          <p:nvPr/>
        </p:nvSpPr>
        <p:spPr>
          <a:xfrm>
            <a:off x="3767328" y="1965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Real-Tie Alerts</a:t>
            </a:r>
            <a:endParaRPr lang="en-US" sz="12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B369385-9045-78F3-CC70-7EB06DA4AA8C}"/>
              </a:ext>
            </a:extLst>
          </p:cNvPr>
          <p:cNvSpPr/>
          <p:nvPr/>
        </p:nvSpPr>
        <p:spPr>
          <a:xfrm>
            <a:off x="3337560" y="235915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SMS for critical events</a:t>
            </a:r>
            <a:endParaRPr lang="en-US" sz="10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EBA92115-3274-FF8E-935A-E2B881488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65960"/>
            <a:ext cx="347472" cy="347472"/>
          </a:xfrm>
          <a:prstGeom prst="rect">
            <a:avLst/>
          </a:prstGeom>
        </p:spPr>
      </p:pic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55F0CF97-01F0-E448-E618-7ACE778E6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83280"/>
            <a:ext cx="347472" cy="347472"/>
          </a:xfrm>
          <a:prstGeom prst="rect">
            <a:avLst/>
          </a:prstGeom>
        </p:spPr>
      </p:pic>
      <p:sp>
        <p:nvSpPr>
          <p:cNvPr id="26" name="Text 19">
            <a:extLst>
              <a:ext uri="{FF2B5EF4-FFF2-40B4-BE49-F238E27FC236}">
                <a16:creationId xmlns:a16="http://schemas.microsoft.com/office/drawing/2014/main" id="{43BE916B-5598-D7BF-251B-F733472F3ADC}"/>
              </a:ext>
            </a:extLst>
          </p:cNvPr>
          <p:cNvSpPr/>
          <p:nvPr/>
        </p:nvSpPr>
        <p:spPr>
          <a:xfrm>
            <a:off x="3767328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7BEC81B-8B53-879E-B2CF-4C5F7B71B1E3}"/>
              </a:ext>
            </a:extLst>
          </p:cNvPr>
          <p:cNvSpPr/>
          <p:nvPr/>
        </p:nvSpPr>
        <p:spPr>
          <a:xfrm>
            <a:off x="3337560" y="37764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Officers, Administrators</a:t>
            </a:r>
            <a:endParaRPr lang="en-US" sz="1000" dirty="0"/>
          </a:p>
        </p:txBody>
      </p:sp>
      <p:pic>
        <p:nvPicPr>
          <p:cNvPr id="29" name="Image 5" descr="preencoded.png">
            <a:extLst>
              <a:ext uri="{FF2B5EF4-FFF2-40B4-BE49-F238E27FC236}">
                <a16:creationId xmlns:a16="http://schemas.microsoft.com/office/drawing/2014/main" id="{424DD0B6-B546-0BA7-4EA5-7998D1FB1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83280"/>
            <a:ext cx="347472" cy="3474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C914543-BF13-4C6D-795D-8C94D4BF3C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965960"/>
            <a:ext cx="7186283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D6283-3ABD-D7FA-92B1-8E89F9E8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0E9FA6-EEF5-AC33-73A4-FB7CB55ECBC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18F3EE1-4ECE-81F2-C2AD-F6C56C32E71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3AA9C6-C9DF-5559-FB0D-D6008C69DFCE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 Second Normal Form (2NF)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D4BD88-88E5-F0F1-159C-B7F709F595E2}"/>
              </a:ext>
            </a:extLst>
          </p:cNvPr>
          <p:cNvSpPr/>
          <p:nvPr/>
        </p:nvSpPr>
        <p:spPr>
          <a:xfrm>
            <a:off x="274320" y="804672"/>
            <a:ext cx="8595360" cy="1228110"/>
          </a:xfrm>
          <a:prstGeom prst="rect">
            <a:avLst/>
          </a:prstGeom>
          <a:solidFill>
            <a:srgbClr val="C8E6C9"/>
          </a:solidFill>
          <a:ln w="12700">
            <a:solidFill>
              <a:srgbClr val="4A9B4E"/>
            </a:solidFill>
            <a:prstDash val="solid"/>
          </a:ln>
        </p:spPr>
        <p:txBody>
          <a:bodyPr/>
          <a:lstStyle/>
          <a:p>
            <a:endParaRPr lang="en-US" sz="1000" b="1" dirty="0"/>
          </a:p>
          <a:p>
            <a:r>
              <a:rPr lang="en-US" sz="1000" b="1" dirty="0"/>
              <a:t>Rule:</a:t>
            </a:r>
            <a:r>
              <a:rPr lang="en-US" sz="1000" dirty="0"/>
              <a:t> Must be in 1NF AND every non-key attribute must be fully functionally dependent on the entire primary key (no partial dependencies). Only applies to composite PKs. </a:t>
            </a:r>
          </a:p>
          <a:p>
            <a:r>
              <a:rPr lang="en-US" sz="1000" b="1" dirty="0"/>
              <a:t>Problem from 1NF:</a:t>
            </a:r>
            <a:r>
              <a:rPr lang="en-US" sz="1000" dirty="0"/>
              <a:t> The ADVISORY_FARMER table has a composite key (</a:t>
            </a:r>
            <a:r>
              <a:rPr lang="en-US" sz="1000" dirty="0" err="1"/>
              <a:t>user_id</a:t>
            </a:r>
            <a:r>
              <a:rPr lang="en-US" sz="1000" dirty="0"/>
              <a:t> + </a:t>
            </a:r>
            <a:r>
              <a:rPr lang="en-US" sz="1000" dirty="0" err="1"/>
              <a:t>record_id</a:t>
            </a:r>
            <a:r>
              <a:rPr lang="en-US" sz="1000" dirty="0"/>
              <a:t>). Advisory details (title, content, region) depend only on the advisory — not on which user is reading it. This is a partial dependency.</a:t>
            </a:r>
          </a:p>
          <a:p>
            <a:endParaRPr lang="en-US" sz="1000" dirty="0"/>
          </a:p>
          <a:p>
            <a:endParaRPr lang="en-US" sz="1000" dirty="0"/>
          </a:p>
          <a:p>
            <a:br>
              <a:rPr lang="en-US" sz="1000" dirty="0"/>
            </a:br>
            <a:endParaRPr lang="en-US" sz="1000" dirty="0"/>
          </a:p>
          <a:p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endParaRPr lang="en-US" sz="1000" dirty="0"/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58A058-C704-E473-164A-8B358A674375}"/>
              </a:ext>
            </a:extLst>
          </p:cNvPr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F1DBEA-0BAA-AD80-B20D-BB393A8C60A6}"/>
              </a:ext>
            </a:extLst>
          </p:cNvPr>
          <p:cNvSpPr/>
          <p:nvPr/>
        </p:nvSpPr>
        <p:spPr>
          <a:xfrm>
            <a:off x="527538" y="105753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2B466-D8D5-CF43-F558-2C39DE1DD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6078"/>
            <a:ext cx="9144000" cy="206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0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114B8-774B-B151-A434-42D996B90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769526-9E02-A7CC-C10C-E3030739413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3D3B86-5D95-F2D2-FFAE-33CCAA001C7A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8EC402-CAB7-1457-EC41-80D52B27569C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 Third Normal Form (3NF)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2C2F2B2-B86D-9402-1EE1-0AAEEEF6B1A0}"/>
              </a:ext>
            </a:extLst>
          </p:cNvPr>
          <p:cNvSpPr/>
          <p:nvPr/>
        </p:nvSpPr>
        <p:spPr>
          <a:xfrm>
            <a:off x="274320" y="804672"/>
            <a:ext cx="8595360" cy="1101500"/>
          </a:xfrm>
          <a:prstGeom prst="rect">
            <a:avLst/>
          </a:prstGeom>
          <a:solidFill>
            <a:srgbClr val="C8E6C9"/>
          </a:solidFill>
          <a:ln w="12700">
            <a:solidFill>
              <a:srgbClr val="4A9B4E"/>
            </a:solidFill>
            <a:prstDash val="solid"/>
          </a:ln>
        </p:spPr>
        <p:txBody>
          <a:bodyPr/>
          <a:lstStyle/>
          <a:p>
            <a:endParaRPr lang="en-US" sz="1000" b="1" dirty="0"/>
          </a:p>
          <a:p>
            <a:r>
              <a:rPr lang="en-US" sz="1000" b="1" dirty="0"/>
              <a:t>Rule:</a:t>
            </a:r>
            <a:r>
              <a:rPr lang="en-US" sz="1000" dirty="0"/>
              <a:t> Must be in 2NF AND there must be no transitive dependencies — non-key attributes must not depend on other non-key attributes.</a:t>
            </a:r>
            <a:br>
              <a:rPr lang="en-US" sz="1000" dirty="0"/>
            </a:br>
            <a:br>
              <a:rPr lang="en-US" sz="1000" dirty="0"/>
            </a:br>
            <a:r>
              <a:rPr lang="en-US" sz="1000" b="1" dirty="0"/>
              <a:t>Problem from 2NF:</a:t>
            </a:r>
            <a:r>
              <a:rPr lang="en-US" sz="1000" dirty="0"/>
              <a:t> In USERS, the column </a:t>
            </a:r>
            <a:r>
              <a:rPr lang="en-US" sz="1000" i="1" dirty="0"/>
              <a:t>region</a:t>
            </a:r>
            <a:r>
              <a:rPr lang="en-US" sz="1000" dirty="0"/>
              <a:t> stores a district name AND a province. If region = "Zululand" always maps to province = "KwaZulu-Natal", that is a transitive dependency. Similarly, advisory </a:t>
            </a:r>
            <a:r>
              <a:rPr lang="en-US" sz="1000" i="1" dirty="0"/>
              <a:t>category</a:t>
            </a:r>
            <a:r>
              <a:rPr lang="en-US" sz="1000" dirty="0"/>
              <a:t> used to imply a fixed </a:t>
            </a:r>
            <a:r>
              <a:rPr lang="en-US" sz="1000" i="1" dirty="0" err="1"/>
              <a:t>severity_default</a:t>
            </a:r>
            <a:r>
              <a:rPr lang="en-US" sz="1000" dirty="0"/>
              <a:t>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sz="1000" dirty="0"/>
            </a:br>
            <a:br>
              <a:rPr lang="en-US" sz="1000" dirty="0"/>
            </a:br>
            <a:br>
              <a:rPr lang="en-US" sz="1000" dirty="0"/>
            </a:br>
            <a:endParaRPr lang="en-US" sz="1000" dirty="0"/>
          </a:p>
          <a:p>
            <a:endParaRPr lang="en-US" sz="1000" dirty="0"/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EF103C-F87B-13C9-5E12-91F824B5D5A2}"/>
              </a:ext>
            </a:extLst>
          </p:cNvPr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79482E-F328-1D6A-36B0-F3166E2329A8}"/>
              </a:ext>
            </a:extLst>
          </p:cNvPr>
          <p:cNvSpPr/>
          <p:nvPr/>
        </p:nvSpPr>
        <p:spPr>
          <a:xfrm>
            <a:off x="527538" y="105753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DAABA7-E6F3-9B36-B43C-FBFDC97A3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1677"/>
            <a:ext cx="9144000" cy="245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92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44CB6-3107-2BC4-3833-8F3E800B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A378D8-D864-F775-DAEA-F2AAA2B5780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5FACC5-DA6B-1B6B-2A05-BA3B73FA9A8F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EA1EC3-251D-BA6D-DF3D-3B084AD8699F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</a:rPr>
              <a:t>Normalisation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 Proof Summary — 1NF → 2NF → 3NF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1596B94-BB3A-0252-63BB-E993B1C262AB}"/>
              </a:ext>
            </a:extLst>
          </p:cNvPr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42CAEB-3912-5EC2-D556-E72BDB2D8A72}"/>
              </a:ext>
            </a:extLst>
          </p:cNvPr>
          <p:cNvSpPr/>
          <p:nvPr/>
        </p:nvSpPr>
        <p:spPr>
          <a:xfrm>
            <a:off x="527538" y="105753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686927-F4A1-A69D-BAEB-6C1332E7D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" y="850392"/>
            <a:ext cx="9144000" cy="290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DIAGRAM</a:t>
            </a:r>
            <a:endParaRPr lang="en-US" sz="2200" dirty="0"/>
          </a:p>
        </p:txBody>
      </p:sp>
      <p:pic>
        <p:nvPicPr>
          <p:cNvPr id="5" name="Image 0" descr="/home/claude/usecas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 DIAGRAM — Viewing an Advisory</a:t>
            </a:r>
            <a:endParaRPr lang="en-US" sz="2000" dirty="0"/>
          </a:p>
        </p:txBody>
      </p:sp>
      <p:pic>
        <p:nvPicPr>
          <p:cNvPr id="5" name="Image 0" descr="/home/claude/activity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49808"/>
            <a:ext cx="8961120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303520" cy="804672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612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(TypeScript)  •  Tailwind CSS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(Offline Store)  •  Service Worker (PWA)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627632"/>
            <a:ext cx="0" cy="64008"/>
          </a:xfrm>
          <a:prstGeom prst="line">
            <a:avLst/>
          </a:prstGeom>
          <a:noFill/>
          <a:ln w="12700">
            <a:solidFill>
              <a:srgbClr val="8BC3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5303520" cy="804672"/>
          </a:xfrm>
          <a:prstGeom prst="rect">
            <a:avLst/>
          </a:prstGeom>
          <a:solidFill>
            <a:srgbClr val="4A9B4E"/>
          </a:solidFill>
          <a:ln w="12700">
            <a:solidFill>
              <a:srgbClr val="4A9B4E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+ Express.js  •  TypeScript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Authentication  •  REST API Endpoints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587752"/>
            <a:ext cx="0" cy="64008"/>
          </a:xfrm>
          <a:prstGeom prst="line">
            <a:avLst/>
          </a:prstGeom>
          <a:noFill/>
          <a:ln w="12700">
            <a:solidFill>
              <a:srgbClr val="8BC34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5303520" cy="80467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815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(Local / Dev)  •  Syncs to Cloud 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3192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Encrypted at rest  •  Audit Logging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822960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0" y="822960"/>
            <a:ext cx="64008" cy="71323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9144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11704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/ AccuWeather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1179576"/>
            <a:ext cx="365760" cy="0"/>
          </a:xfrm>
          <a:prstGeom prst="line">
            <a:avLst/>
          </a:prstGeom>
          <a:noFill/>
          <a:ln w="12700">
            <a:solidFill>
              <a:srgbClr val="2C6B2F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0" y="1755648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0" y="1755648"/>
            <a:ext cx="64008" cy="71323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18470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2103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Talking / Twilio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2112264"/>
            <a:ext cx="365760" cy="0"/>
          </a:xfrm>
          <a:prstGeom prst="line">
            <a:avLst/>
          </a:prstGeom>
          <a:noFill/>
          <a:ln w="12700">
            <a:solidFill>
              <a:srgbClr val="2C6B2F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0" y="2688336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43600" y="2688336"/>
            <a:ext cx="64008" cy="71323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0760" y="27797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0760" y="30358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3621024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43600" y="3621024"/>
            <a:ext cx="64008" cy="713232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37124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0760" y="39684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0" y="7498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8869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access + refresh tokens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bcrypt hashing (cost factor 12)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Account lockout after 5 failed attempts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82296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822960"/>
            <a:ext cx="4206240" cy="4114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8869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464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3776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 encryption at rest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TLS 1.3 for all API calls (HTTPS)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93776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file encryption on device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26060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74320" y="2606040"/>
            <a:ext cx="4206240" cy="4114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67004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80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92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Parameterised queries only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0292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ORM abstraction layer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0292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Input validation on all endpoints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09160" y="26060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709160" y="2606040"/>
            <a:ext cx="4206240" cy="4114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6700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8464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Compliance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93776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XSS prevention (CSP headers)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93776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CSRF tokens on state-changing calls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93776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Helmet.js security headers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  •  User data encrypted  •  Consent-based data collection  •  Data minimisation principles applied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FF359-AC8E-EC7C-AC5B-E31ED565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B72EA0-D00F-A87F-CF00-AA330979C76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305049-18E4-96C7-D22C-524336308FAC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3AED6A-FA9C-08E9-5D70-26696206E86C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ARCHITECTURE</a:t>
            </a:r>
            <a:endParaRPr lang="en-US" sz="22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7644FFAB-C5A7-43A2-28C3-E73013E8C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886968"/>
            <a:ext cx="274320" cy="27432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2AAB5EDD-217A-7D04-535F-39AB551DC9B8}"/>
              </a:ext>
            </a:extLst>
          </p:cNvPr>
          <p:cNvSpPr/>
          <p:nvPr/>
        </p:nvSpPr>
        <p:spPr>
          <a:xfrm>
            <a:off x="74980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6D04986-2402-DB6C-A2DB-0561656EFCE4}"/>
              </a:ext>
            </a:extLst>
          </p:cNvPr>
          <p:cNvSpPr/>
          <p:nvPr/>
        </p:nvSpPr>
        <p:spPr>
          <a:xfrm>
            <a:off x="5029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access + refresh tokens</a:t>
            </a:r>
            <a:endParaRPr lang="en-US"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225000C-1CD8-9832-B0B4-46ADD485AB5F}"/>
              </a:ext>
            </a:extLst>
          </p:cNvPr>
          <p:cNvSpPr/>
          <p:nvPr/>
        </p:nvSpPr>
        <p:spPr>
          <a:xfrm>
            <a:off x="50292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bcrypt hashing (cost factor 12)</a:t>
            </a:r>
            <a:endParaRPr lang="en-US" sz="1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A509065-EADA-F3F4-42C8-C18C0D0076A4}"/>
              </a:ext>
            </a:extLst>
          </p:cNvPr>
          <p:cNvSpPr/>
          <p:nvPr/>
        </p:nvSpPr>
        <p:spPr>
          <a:xfrm>
            <a:off x="50292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Account lockout after 5 failed attempts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FE8339F-C982-1D5D-3E10-320D3CF41227}"/>
              </a:ext>
            </a:extLst>
          </p:cNvPr>
          <p:cNvSpPr/>
          <p:nvPr/>
        </p:nvSpPr>
        <p:spPr>
          <a:xfrm>
            <a:off x="4709160" y="82296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3B7EB89C-6AB8-5D7C-CDC8-435FB9E29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886968"/>
            <a:ext cx="274320" cy="2743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6A3A47EE-0991-06D1-33A4-76167F7F646F}"/>
              </a:ext>
            </a:extLst>
          </p:cNvPr>
          <p:cNvSpPr/>
          <p:nvPr/>
        </p:nvSpPr>
        <p:spPr>
          <a:xfrm>
            <a:off x="518464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3B09A63-9D9E-6A2F-475A-9E1CCD6ABEAD}"/>
              </a:ext>
            </a:extLst>
          </p:cNvPr>
          <p:cNvSpPr/>
          <p:nvPr/>
        </p:nvSpPr>
        <p:spPr>
          <a:xfrm>
            <a:off x="493776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 encryption at rest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6298332-33D2-E8B9-E998-A744F2692504}"/>
              </a:ext>
            </a:extLst>
          </p:cNvPr>
          <p:cNvSpPr/>
          <p:nvPr/>
        </p:nvSpPr>
        <p:spPr>
          <a:xfrm>
            <a:off x="493776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TLS 1.3 for all API calls (HTTPS)</a:t>
            </a:r>
            <a:endParaRPr lang="en-US" sz="10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5F7864E-D4CE-B5EA-57A6-66CA22E2BB16}"/>
              </a:ext>
            </a:extLst>
          </p:cNvPr>
          <p:cNvSpPr/>
          <p:nvPr/>
        </p:nvSpPr>
        <p:spPr>
          <a:xfrm>
            <a:off x="493776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file encryption on device</a:t>
            </a:r>
            <a:endParaRPr lang="en-US" sz="10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24184502-C394-C730-C386-7384CD861EBA}"/>
              </a:ext>
            </a:extLst>
          </p:cNvPr>
          <p:cNvSpPr/>
          <p:nvPr/>
        </p:nvSpPr>
        <p:spPr>
          <a:xfrm>
            <a:off x="274320" y="26060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8DFDE80D-4463-0F3B-40C9-952F846C129B}"/>
              </a:ext>
            </a:extLst>
          </p:cNvPr>
          <p:cNvSpPr/>
          <p:nvPr/>
        </p:nvSpPr>
        <p:spPr>
          <a:xfrm>
            <a:off x="274320" y="2606040"/>
            <a:ext cx="4206240" cy="4114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44D1DE6B-682C-F9FD-5268-50BEBF2FD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670048"/>
            <a:ext cx="274320" cy="274320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300341A7-AD7C-1759-C5B8-EACFF434727E}"/>
              </a:ext>
            </a:extLst>
          </p:cNvPr>
          <p:cNvSpPr/>
          <p:nvPr/>
        </p:nvSpPr>
        <p:spPr>
          <a:xfrm>
            <a:off x="74980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2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52C52918-304B-C254-0D46-43DA9E88EBBC}"/>
              </a:ext>
            </a:extLst>
          </p:cNvPr>
          <p:cNvSpPr/>
          <p:nvPr/>
        </p:nvSpPr>
        <p:spPr>
          <a:xfrm>
            <a:off x="50292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Parameterised queries only</a:t>
            </a:r>
            <a:endParaRPr lang="en-US" sz="10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BC457B24-C1B4-C7CC-0D3A-571456A7BE38}"/>
              </a:ext>
            </a:extLst>
          </p:cNvPr>
          <p:cNvSpPr/>
          <p:nvPr/>
        </p:nvSpPr>
        <p:spPr>
          <a:xfrm>
            <a:off x="50292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ORM abstraction layer</a:t>
            </a:r>
            <a:endParaRPr lang="en-US" sz="10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A4678723-C200-F0CA-BF8C-32626DB881CA}"/>
              </a:ext>
            </a:extLst>
          </p:cNvPr>
          <p:cNvSpPr/>
          <p:nvPr/>
        </p:nvSpPr>
        <p:spPr>
          <a:xfrm>
            <a:off x="50292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Input validation on all endpoints</a:t>
            </a:r>
            <a:endParaRPr lang="en-US" sz="10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09A16D17-1F42-13F5-37CB-4B0A1BCCD023}"/>
              </a:ext>
            </a:extLst>
          </p:cNvPr>
          <p:cNvSpPr/>
          <p:nvPr/>
        </p:nvSpPr>
        <p:spPr>
          <a:xfrm>
            <a:off x="4709160" y="260604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8294D4B-8944-8EFD-A07F-8E54FCA2CF66}"/>
              </a:ext>
            </a:extLst>
          </p:cNvPr>
          <p:cNvSpPr/>
          <p:nvPr/>
        </p:nvSpPr>
        <p:spPr>
          <a:xfrm>
            <a:off x="4709160" y="2606040"/>
            <a:ext cx="4206240" cy="411480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D0C6BA68-B118-61F2-643E-ED01F4EE0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670048"/>
            <a:ext cx="274320" cy="274320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EF6F4529-75D8-718B-4BAB-98DA9EF8B74B}"/>
              </a:ext>
            </a:extLst>
          </p:cNvPr>
          <p:cNvSpPr/>
          <p:nvPr/>
        </p:nvSpPr>
        <p:spPr>
          <a:xfrm>
            <a:off x="518464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Compliance</a:t>
            </a:r>
            <a:endParaRPr lang="en-US" sz="12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47E0CEC4-0DAD-7231-2EC3-BB096307D37E}"/>
              </a:ext>
            </a:extLst>
          </p:cNvPr>
          <p:cNvSpPr/>
          <p:nvPr/>
        </p:nvSpPr>
        <p:spPr>
          <a:xfrm>
            <a:off x="493776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XSS prevention (CSP headers)</a:t>
            </a:r>
            <a:endParaRPr lang="en-US" sz="10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026B23EE-8658-2862-FB35-C76251F92819}"/>
              </a:ext>
            </a:extLst>
          </p:cNvPr>
          <p:cNvSpPr/>
          <p:nvPr/>
        </p:nvSpPr>
        <p:spPr>
          <a:xfrm>
            <a:off x="493776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CSRF tokens on state-changing calls</a:t>
            </a:r>
            <a:endParaRPr lang="en-US" sz="10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31161E27-B5CC-991D-3912-9B5FAE5E14CA}"/>
              </a:ext>
            </a:extLst>
          </p:cNvPr>
          <p:cNvSpPr/>
          <p:nvPr/>
        </p:nvSpPr>
        <p:spPr>
          <a:xfrm>
            <a:off x="493776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Helmet.js security headers</a:t>
            </a:r>
            <a:endParaRPr lang="en-US" sz="100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E5DE59AA-909E-96F1-02F3-7F29C8D6104C}"/>
              </a:ext>
            </a:extLst>
          </p:cNvPr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solidFill>
            <a:srgbClr val="2C6B2F"/>
          </a:solidFill>
          <a:ln w="12700">
            <a:solidFill>
              <a:srgbClr val="2C6B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39B778C-F8FF-DD79-81BD-1A5168992CB1}"/>
              </a:ext>
            </a:extLst>
          </p:cNvPr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  •  User data encrypted  •  Consent-based data collection  •  Data minimisation principles applied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BD3CD24-CD18-D73F-0510-01AACAA31A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136946"/>
            <a:ext cx="9144000" cy="500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77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64119-BA36-411E-D405-C9B84574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C9D165-3199-D010-4E97-11A7A90520C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DAAAD5-7443-94AC-FE04-35D0C142CC8A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D31F89-9EB2-EA30-3066-0D56BDE36CCA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Arial Black" pitchFamily="34" charset="0"/>
              </a:rPr>
              <a:t>Domain Class Diagram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DFABCCA-F548-EEC4-31E2-0A565E035CBD}"/>
              </a:ext>
            </a:extLst>
          </p:cNvPr>
          <p:cNvSpPr/>
          <p:nvPr/>
        </p:nvSpPr>
        <p:spPr>
          <a:xfrm>
            <a:off x="74980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4C4073BF-4F5F-A66D-AD7A-0C87A753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886968"/>
            <a:ext cx="274320" cy="2743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D13735FB-345B-7654-F25D-E6C21EBE39FE}"/>
              </a:ext>
            </a:extLst>
          </p:cNvPr>
          <p:cNvSpPr/>
          <p:nvPr/>
        </p:nvSpPr>
        <p:spPr>
          <a:xfrm>
            <a:off x="518464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52A807A-D871-BADC-952F-E04A4521EF75}"/>
              </a:ext>
            </a:extLst>
          </p:cNvPr>
          <p:cNvSpPr/>
          <p:nvPr/>
        </p:nvSpPr>
        <p:spPr>
          <a:xfrm>
            <a:off x="493776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 encryption at rest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F292F9B-EE40-3DFF-3B60-288A15BB6F08}"/>
              </a:ext>
            </a:extLst>
          </p:cNvPr>
          <p:cNvSpPr/>
          <p:nvPr/>
        </p:nvSpPr>
        <p:spPr>
          <a:xfrm>
            <a:off x="493776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TLS 1.3 for all API calls (HTTPS)</a:t>
            </a:r>
            <a:endParaRPr lang="en-US" sz="10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A626CB7-1748-A103-7136-E4F40F25B7BB}"/>
              </a:ext>
            </a:extLst>
          </p:cNvPr>
          <p:cNvSpPr/>
          <p:nvPr/>
        </p:nvSpPr>
        <p:spPr>
          <a:xfrm>
            <a:off x="493776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file encryption on device</a:t>
            </a:r>
            <a:endParaRPr lang="en-US" sz="10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0A7E787-152B-BE84-076A-69940D2D925E}"/>
              </a:ext>
            </a:extLst>
          </p:cNvPr>
          <p:cNvSpPr/>
          <p:nvPr/>
        </p:nvSpPr>
        <p:spPr>
          <a:xfrm>
            <a:off x="74980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20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1FE2EDBF-F31E-88C7-F0AE-24D8DE5F5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670048"/>
            <a:ext cx="274320" cy="274320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5B85AC4B-7C17-72B0-D44A-DC876863B5D5}"/>
              </a:ext>
            </a:extLst>
          </p:cNvPr>
          <p:cNvSpPr/>
          <p:nvPr/>
        </p:nvSpPr>
        <p:spPr>
          <a:xfrm>
            <a:off x="518464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Compliance</a:t>
            </a:r>
            <a:endParaRPr lang="en-US" sz="12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A1F904CA-622C-5E55-C908-6A7CF7566DE8}"/>
              </a:ext>
            </a:extLst>
          </p:cNvPr>
          <p:cNvSpPr/>
          <p:nvPr/>
        </p:nvSpPr>
        <p:spPr>
          <a:xfrm>
            <a:off x="493776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XSS prevention (CSP headers)</a:t>
            </a:r>
            <a:endParaRPr lang="en-US" sz="10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0A408149-2BC5-5673-ACEB-67592B055C73}"/>
              </a:ext>
            </a:extLst>
          </p:cNvPr>
          <p:cNvSpPr/>
          <p:nvPr/>
        </p:nvSpPr>
        <p:spPr>
          <a:xfrm>
            <a:off x="493776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CSRF tokens on state-changing calls</a:t>
            </a:r>
            <a:endParaRPr lang="en-US" sz="10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4F703942-EBD9-05EA-699A-BF77A9951063}"/>
              </a:ext>
            </a:extLst>
          </p:cNvPr>
          <p:cNvSpPr/>
          <p:nvPr/>
        </p:nvSpPr>
        <p:spPr>
          <a:xfrm>
            <a:off x="493776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Helmet.js security headers</a:t>
            </a:r>
            <a:endParaRPr lang="en-US" sz="10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C7F425A8-1C59-F744-955C-FACD7C6191E7}"/>
              </a:ext>
            </a:extLst>
          </p:cNvPr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  •  User data encrypted  •  Consent-based data collection  •  Data minimisation principles applied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11887E-A42A-017B-87BC-584DDF0AB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6" y="713232"/>
            <a:ext cx="7715250" cy="447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5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5E498-1D58-6676-31B6-885075AD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33031D-38C9-51BE-37F1-3A4C8EADCB9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480819-391B-C91C-9B30-1A6932E9876D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569F6F-1A64-5547-9853-955EDE9A55F7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Arial Black" pitchFamily="34" charset="0"/>
              </a:rPr>
              <a:t>ERD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2441F74-8D0D-D057-E499-0F6BEF91BF0B}"/>
              </a:ext>
            </a:extLst>
          </p:cNvPr>
          <p:cNvSpPr/>
          <p:nvPr/>
        </p:nvSpPr>
        <p:spPr>
          <a:xfrm>
            <a:off x="74980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14C521C0-8435-C597-E1E4-396205BC9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886968"/>
            <a:ext cx="274320" cy="2743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5169D812-2DA5-BE15-9524-813CD1127242}"/>
              </a:ext>
            </a:extLst>
          </p:cNvPr>
          <p:cNvSpPr/>
          <p:nvPr/>
        </p:nvSpPr>
        <p:spPr>
          <a:xfrm>
            <a:off x="518464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E70742E-3486-57C9-1C37-4329E43CF167}"/>
              </a:ext>
            </a:extLst>
          </p:cNvPr>
          <p:cNvSpPr/>
          <p:nvPr/>
        </p:nvSpPr>
        <p:spPr>
          <a:xfrm>
            <a:off x="493776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 encryption at rest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41B85BB-F7DD-3A9E-9F68-76536F742D28}"/>
              </a:ext>
            </a:extLst>
          </p:cNvPr>
          <p:cNvSpPr/>
          <p:nvPr/>
        </p:nvSpPr>
        <p:spPr>
          <a:xfrm>
            <a:off x="493776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TLS 1.3 for all API calls (HTTPS)</a:t>
            </a:r>
            <a:endParaRPr lang="en-US" sz="10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3A4B508-B817-0E6E-E182-10EA0215FC34}"/>
              </a:ext>
            </a:extLst>
          </p:cNvPr>
          <p:cNvSpPr/>
          <p:nvPr/>
        </p:nvSpPr>
        <p:spPr>
          <a:xfrm>
            <a:off x="493776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file encryption on device</a:t>
            </a:r>
            <a:endParaRPr lang="en-US" sz="10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F98710A8-6485-5C5B-8188-75FB219F21DC}"/>
              </a:ext>
            </a:extLst>
          </p:cNvPr>
          <p:cNvSpPr/>
          <p:nvPr/>
        </p:nvSpPr>
        <p:spPr>
          <a:xfrm>
            <a:off x="74980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20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7779519B-2DC8-16D5-DAA1-C7983AC39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670048"/>
            <a:ext cx="274320" cy="274320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9CF4A0E5-6D79-9821-CED1-E109A3151C9E}"/>
              </a:ext>
            </a:extLst>
          </p:cNvPr>
          <p:cNvSpPr/>
          <p:nvPr/>
        </p:nvSpPr>
        <p:spPr>
          <a:xfrm>
            <a:off x="518464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Compliance</a:t>
            </a:r>
            <a:endParaRPr lang="en-US" sz="12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7EC57602-4684-9029-8610-F57C73598659}"/>
              </a:ext>
            </a:extLst>
          </p:cNvPr>
          <p:cNvSpPr/>
          <p:nvPr/>
        </p:nvSpPr>
        <p:spPr>
          <a:xfrm>
            <a:off x="493776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XSS prevention (CSP headers)</a:t>
            </a:r>
            <a:endParaRPr lang="en-US" sz="10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778825F3-73B3-8586-61F7-3831F9A87AAB}"/>
              </a:ext>
            </a:extLst>
          </p:cNvPr>
          <p:cNvSpPr/>
          <p:nvPr/>
        </p:nvSpPr>
        <p:spPr>
          <a:xfrm>
            <a:off x="493776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CSRF tokens on state-changing calls</a:t>
            </a:r>
            <a:endParaRPr lang="en-US" sz="10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D141F74-CE30-520A-A66C-6B4F9B5A9D38}"/>
              </a:ext>
            </a:extLst>
          </p:cNvPr>
          <p:cNvSpPr/>
          <p:nvPr/>
        </p:nvSpPr>
        <p:spPr>
          <a:xfrm>
            <a:off x="493776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Helmet.js security headers</a:t>
            </a:r>
            <a:endParaRPr lang="en-US" sz="10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A9A6DAF5-E77C-96E8-24E0-8BAEED04110A}"/>
              </a:ext>
            </a:extLst>
          </p:cNvPr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  •  User data encrypted  •  Consent-based data collection  •  Data minimisation principles applied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2B861-ABFF-450B-DF4A-4D5E00E83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6" y="713232"/>
            <a:ext cx="7143750" cy="439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43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4E0FC-93A4-3702-3EFF-3E7F5307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E85FDA-558A-280A-8B42-13D474DFBE1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B75DCE-E25C-9E32-310D-83DCE63A01CA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4E5287-D600-E004-5F99-B50A022E9D43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>
                <a:solidFill>
                  <a:schemeClr val="bg1"/>
                </a:solidFill>
              </a:rPr>
              <a:t>User Flow Diagrams — Farmer &amp; Administrator Journeys - UI/UX Design</a:t>
            </a:r>
          </a:p>
          <a:p>
            <a:br>
              <a:rPr lang="en-US" sz="3200" dirty="0"/>
            </a:br>
            <a:endParaRPr lang="en-US" sz="3000" b="1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9EFF913-11F1-8037-D998-A458666E486D}"/>
              </a:ext>
            </a:extLst>
          </p:cNvPr>
          <p:cNvSpPr/>
          <p:nvPr/>
        </p:nvSpPr>
        <p:spPr>
          <a:xfrm>
            <a:off x="74980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A8C807EE-AB20-08DB-836C-7A43EACC1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886968"/>
            <a:ext cx="274320" cy="2743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FEDB5F8B-C457-53F1-0996-E0253DAECA4C}"/>
              </a:ext>
            </a:extLst>
          </p:cNvPr>
          <p:cNvSpPr/>
          <p:nvPr/>
        </p:nvSpPr>
        <p:spPr>
          <a:xfrm>
            <a:off x="518464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B9DA9BA-399F-2DBF-7359-B23CDEB18828}"/>
              </a:ext>
            </a:extLst>
          </p:cNvPr>
          <p:cNvSpPr/>
          <p:nvPr/>
        </p:nvSpPr>
        <p:spPr>
          <a:xfrm>
            <a:off x="493776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 encryption at rest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09695C0-73C5-04EB-1B21-6B05962EECCB}"/>
              </a:ext>
            </a:extLst>
          </p:cNvPr>
          <p:cNvSpPr/>
          <p:nvPr/>
        </p:nvSpPr>
        <p:spPr>
          <a:xfrm>
            <a:off x="493776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TLS 1.3 for all API calls (HTTPS)</a:t>
            </a:r>
            <a:endParaRPr lang="en-US" sz="10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B46CDC2-58F8-C2D0-E203-186E6213FD58}"/>
              </a:ext>
            </a:extLst>
          </p:cNvPr>
          <p:cNvSpPr/>
          <p:nvPr/>
        </p:nvSpPr>
        <p:spPr>
          <a:xfrm>
            <a:off x="493776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file encryption on device</a:t>
            </a:r>
            <a:endParaRPr lang="en-US" sz="10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53D4ADD-A665-C0BA-E128-A8ACB63BC58B}"/>
              </a:ext>
            </a:extLst>
          </p:cNvPr>
          <p:cNvSpPr/>
          <p:nvPr/>
        </p:nvSpPr>
        <p:spPr>
          <a:xfrm>
            <a:off x="74980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20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DE38BC7B-10C2-BCE6-985C-72961FD31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670048"/>
            <a:ext cx="274320" cy="274320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3D13CEB4-75E7-9E86-7A5D-1BB82F5EF02B}"/>
              </a:ext>
            </a:extLst>
          </p:cNvPr>
          <p:cNvSpPr/>
          <p:nvPr/>
        </p:nvSpPr>
        <p:spPr>
          <a:xfrm>
            <a:off x="518464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Compliance</a:t>
            </a:r>
            <a:endParaRPr lang="en-US" sz="12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D6A9C37-245C-6DC5-EA7D-C3CC9D356533}"/>
              </a:ext>
            </a:extLst>
          </p:cNvPr>
          <p:cNvSpPr/>
          <p:nvPr/>
        </p:nvSpPr>
        <p:spPr>
          <a:xfrm>
            <a:off x="493776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XSS prevention (CSP headers)</a:t>
            </a:r>
            <a:endParaRPr lang="en-US" sz="10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52E7282C-7773-0775-9942-8809195F391D}"/>
              </a:ext>
            </a:extLst>
          </p:cNvPr>
          <p:cNvSpPr/>
          <p:nvPr/>
        </p:nvSpPr>
        <p:spPr>
          <a:xfrm>
            <a:off x="493776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CSRF tokens on state-changing calls</a:t>
            </a:r>
            <a:endParaRPr lang="en-US" sz="10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26185E8B-B3EE-373D-F3C3-6F81CCBAAAC4}"/>
              </a:ext>
            </a:extLst>
          </p:cNvPr>
          <p:cNvSpPr/>
          <p:nvPr/>
        </p:nvSpPr>
        <p:spPr>
          <a:xfrm>
            <a:off x="493776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Helmet.js security headers</a:t>
            </a:r>
            <a:endParaRPr lang="en-US" sz="10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1B951C56-9E13-D9EC-CEC1-2432AC0DD0A5}"/>
              </a:ext>
            </a:extLst>
          </p:cNvPr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  •  User data encrypted  •  Consent-based data collection  •  Data minimisation principles applied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04B67-02B4-0DC3-422D-804C6A30D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672436"/>
            <a:ext cx="7715250" cy="4471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7CF87-AFE4-25F5-E12C-802343757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8" y="685800"/>
            <a:ext cx="9019903" cy="446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71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D6614-1763-C537-8BBA-D4E09D39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E059CF-4BCB-DB78-EB06-E65B4143590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3A17"/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13E338-DF9C-84B5-5D5A-A1A9C2315BCB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655D0C-D5D0-37DB-665E-5D68D3DE2B2D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>
                <a:solidFill>
                  <a:schemeClr val="bg1"/>
                </a:solidFill>
              </a:rPr>
              <a:t>UI/UX Design</a:t>
            </a:r>
          </a:p>
          <a:p>
            <a:br>
              <a:rPr lang="en-US" sz="3200" dirty="0"/>
            </a:br>
            <a:endParaRPr lang="en-US" sz="3000" b="1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3F4CC7-636C-0855-3DE7-67632FC32585}"/>
              </a:ext>
            </a:extLst>
          </p:cNvPr>
          <p:cNvSpPr/>
          <p:nvPr/>
        </p:nvSpPr>
        <p:spPr>
          <a:xfrm>
            <a:off x="74980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54592CBE-6BD8-3B7A-FB3C-3C662B9E7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886968"/>
            <a:ext cx="274320" cy="274320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8934098F-A299-5940-8413-AEAA137BFD1A}"/>
              </a:ext>
            </a:extLst>
          </p:cNvPr>
          <p:cNvSpPr/>
          <p:nvPr/>
        </p:nvSpPr>
        <p:spPr>
          <a:xfrm>
            <a:off x="5184648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C61A132-A234-442D-F86B-12973A1DB635}"/>
              </a:ext>
            </a:extLst>
          </p:cNvPr>
          <p:cNvSpPr/>
          <p:nvPr/>
        </p:nvSpPr>
        <p:spPr>
          <a:xfrm>
            <a:off x="493776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AES-256 encryption at rest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E05F5CB-D986-39B9-BD1B-99A3A8337261}"/>
              </a:ext>
            </a:extLst>
          </p:cNvPr>
          <p:cNvSpPr/>
          <p:nvPr/>
        </p:nvSpPr>
        <p:spPr>
          <a:xfrm>
            <a:off x="4937760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TLS 1.3 for all API calls (HTTPS)</a:t>
            </a:r>
            <a:endParaRPr lang="en-US" sz="10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B7FE653-FBAD-E6CA-FC90-9137CA41753F}"/>
              </a:ext>
            </a:extLst>
          </p:cNvPr>
          <p:cNvSpPr/>
          <p:nvPr/>
        </p:nvSpPr>
        <p:spPr>
          <a:xfrm>
            <a:off x="493776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SQLite file encryption on device</a:t>
            </a:r>
            <a:endParaRPr lang="en-US" sz="10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D28E4610-FA90-0533-7A72-6B4530E6A561}"/>
              </a:ext>
            </a:extLst>
          </p:cNvPr>
          <p:cNvSpPr/>
          <p:nvPr/>
        </p:nvSpPr>
        <p:spPr>
          <a:xfrm>
            <a:off x="74980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20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D90759E1-E829-54E5-1CB6-EE818ED85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670048"/>
            <a:ext cx="274320" cy="274320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A2A8B3E6-5DFD-32F9-C981-E1C41F73FB09}"/>
              </a:ext>
            </a:extLst>
          </p:cNvPr>
          <p:cNvSpPr/>
          <p:nvPr/>
        </p:nvSpPr>
        <p:spPr>
          <a:xfrm>
            <a:off x="518464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Compliance</a:t>
            </a:r>
            <a:endParaRPr lang="en-US" sz="12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52C3C63-585D-8430-F3D2-BC93E8B6A140}"/>
              </a:ext>
            </a:extLst>
          </p:cNvPr>
          <p:cNvSpPr/>
          <p:nvPr/>
        </p:nvSpPr>
        <p:spPr>
          <a:xfrm>
            <a:off x="493776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XSS prevention (CSP headers)</a:t>
            </a:r>
            <a:endParaRPr lang="en-US" sz="1000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6270C15-DAC1-C0FE-988F-86EC3D8E7EF7}"/>
              </a:ext>
            </a:extLst>
          </p:cNvPr>
          <p:cNvSpPr/>
          <p:nvPr/>
        </p:nvSpPr>
        <p:spPr>
          <a:xfrm>
            <a:off x="493776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CSRF tokens on state-changing calls</a:t>
            </a:r>
            <a:endParaRPr lang="en-US" sz="10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C780E64E-342A-1EC9-2144-9FC921965509}"/>
              </a:ext>
            </a:extLst>
          </p:cNvPr>
          <p:cNvSpPr/>
          <p:nvPr/>
        </p:nvSpPr>
        <p:spPr>
          <a:xfrm>
            <a:off x="493776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Helmet.js security headers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046EA8-9389-E4CE-C26A-EC4765B79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54" y="713232"/>
            <a:ext cx="6803395" cy="443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02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_b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B4D1C">
              <a:alpha val="50000"/>
            </a:srgbClr>
          </a:solidFill>
          <a:ln w="12700">
            <a:solidFill>
              <a:srgbClr val="1B4D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28600" y="2743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2860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problems. Real people. Real solutions.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8600" y="1920240"/>
            <a:ext cx="1920240" cy="1188720"/>
          </a:xfrm>
          <a:prstGeom prst="rect">
            <a:avLst/>
          </a:prstGeom>
          <a:solidFill>
            <a:srgbClr val="2C6B2F"/>
          </a:solidFill>
          <a:ln w="12700">
            <a:solidFill>
              <a:srgbClr val="8BC34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860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40%+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20040" y="25420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losses in SA from poor information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31720" y="1920240"/>
            <a:ext cx="1920240" cy="1188720"/>
          </a:xfrm>
          <a:prstGeom prst="rect">
            <a:avLst/>
          </a:prstGeom>
          <a:solidFill>
            <a:srgbClr val="2C6B2F"/>
          </a:solidFill>
          <a:ln w="12700">
            <a:solidFill>
              <a:srgbClr val="8BC34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31720" y="2011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10K+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423160" y="25420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in KwaZulu-Natal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" y="3337560"/>
            <a:ext cx="1920240" cy="1188720"/>
          </a:xfrm>
          <a:prstGeom prst="rect">
            <a:avLst/>
          </a:prstGeom>
          <a:solidFill>
            <a:srgbClr val="2C6B2F"/>
          </a:solidFill>
          <a:ln w="12700">
            <a:solidFill>
              <a:srgbClr val="8BC34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860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20040" y="3959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access — offline or online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331720" y="3337560"/>
            <a:ext cx="1920240" cy="1188720"/>
          </a:xfrm>
          <a:prstGeom prst="rect">
            <a:avLst/>
          </a:prstGeom>
          <a:solidFill>
            <a:srgbClr val="2C6B2F"/>
          </a:solidFill>
          <a:ln w="12700">
            <a:solidFill>
              <a:srgbClr val="8BC34A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33172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2423160" y="3959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 target — publish to farmer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0" y="13716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Rural Agriculture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Technology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754880" y="29260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bridging the digital divide, this system empowers smallholder farmers with the information they need to protect their crops and livelihoods — regardless of connectivity.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nclusion_b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3A17">
              <a:alpha val="70000"/>
            </a:srgbClr>
          </a:solidFill>
          <a:ln w="12700">
            <a:solidFill>
              <a:srgbClr val="163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8321040" cy="685800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Mobile Advisory System bridges a critical information gap for rural farming communities in South Africa. By combining offline-first SQLite storage, secure Node.js APIs, role-based access, and SMS alerts — we deliver timely, actionable advisories regardless of connectivity.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4023360" cy="548640"/>
          </a:xfrm>
          <a:prstGeom prst="rect">
            <a:avLst/>
          </a:prstGeom>
          <a:solidFill>
            <a:srgbClr val="2C6B2F">
              <a:alpha val="80000"/>
            </a:srgbClr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0352" y="2441448"/>
            <a:ext cx="329184" cy="329184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352" y="242316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240487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system architecture &amp; database ERD (Sprint 3–4)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2331720"/>
            <a:ext cx="4023360" cy="548640"/>
          </a:xfrm>
          <a:prstGeom prst="rect">
            <a:avLst/>
          </a:prstGeom>
          <a:solidFill>
            <a:srgbClr val="2C6B2F">
              <a:alpha val="80000"/>
            </a:srgbClr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28032" y="2441448"/>
            <a:ext cx="329184" cy="329184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28032" y="242316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30368" y="240487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Node.js + Express backend with SQLite (Sprint 5)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2990088"/>
            <a:ext cx="4023360" cy="548640"/>
          </a:xfrm>
          <a:prstGeom prst="rect">
            <a:avLst/>
          </a:prstGeom>
          <a:solidFill>
            <a:srgbClr val="2C6B2F">
              <a:alpha val="80000"/>
            </a:srgbClr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30352" y="3099816"/>
            <a:ext cx="329184" cy="329184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30352" y="308152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32688" y="30632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JWT authentication &amp; RBAC (Sprint 6)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54880" y="2990088"/>
            <a:ext cx="4023360" cy="548640"/>
          </a:xfrm>
          <a:prstGeom prst="rect">
            <a:avLst/>
          </a:prstGeom>
          <a:solidFill>
            <a:srgbClr val="2C6B2F">
              <a:alpha val="80000"/>
            </a:srgbClr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828032" y="3099816"/>
            <a:ext cx="329184" cy="329184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28032" y="308152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30368" y="30632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React frontend with offline capability (Sprint 7)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3648456"/>
            <a:ext cx="4023360" cy="548640"/>
          </a:xfrm>
          <a:prstGeom prst="rect">
            <a:avLst/>
          </a:prstGeom>
          <a:solidFill>
            <a:srgbClr val="2C6B2F">
              <a:alpha val="80000"/>
            </a:srgbClr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30352" y="3758184"/>
            <a:ext cx="329184" cy="329184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30352" y="373989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32688" y="37216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SMS gateway &amp; complete full-stack demo (Sprint 8–9)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3648456"/>
            <a:ext cx="4023360" cy="548640"/>
          </a:xfrm>
          <a:prstGeom prst="rect">
            <a:avLst/>
          </a:prstGeom>
          <a:solidFill>
            <a:srgbClr val="2C6B2F">
              <a:alpha val="80000"/>
            </a:srgbClr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28032" y="3758184"/>
            <a:ext cx="329184" cy="329184"/>
          </a:xfrm>
          <a:prstGeom prst="ellipse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28032" y="373989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D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230368" y="37216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module &amp; final deployment (Sprint 10–12)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  •  Mangosuthu University of Technology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1263</Words>
  <Application>Microsoft Office PowerPoint</Application>
  <PresentationFormat>On-screen Show (16:9)</PresentationFormat>
  <Paragraphs>230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Mobile Advisory System for Farmers</dc:title>
  <dc:subject>PptxGenJS Presentation</dc:subject>
  <dc:creator>PptxGenJS</dc:creator>
  <cp:lastModifiedBy>Nhlahla Mgabhi</cp:lastModifiedBy>
  <cp:revision>3</cp:revision>
  <dcterms:created xsi:type="dcterms:W3CDTF">2026-03-21T06:20:58Z</dcterms:created>
  <dcterms:modified xsi:type="dcterms:W3CDTF">2026-03-27T08:22:28Z</dcterms:modified>
</cp:coreProperties>
</file>